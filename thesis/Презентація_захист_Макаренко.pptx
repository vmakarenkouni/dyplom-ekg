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9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54864"/>
          </a:xfrm>
          <a:prstGeom prst="rect">
            <a:avLst/>
          </a:prstGeom>
          <a:solidFill>
            <a:srgbClr val="F0C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Київський національний університет імені Тараса Шевченка</a:t>
            </a:r>
          </a:p>
          <a:p>
            <a:pPr algn="ctr"/>
            <a:r>
              <a:rPr sz="1400" b="0" i="0">
                <a:solidFill>
                  <a:srgbClr val="D5DEEC"/>
                </a:solidFill>
                <a:latin typeface="Calibri"/>
              </a:rPr>
              <a:t>Факультет комп’ютерних наук та кібернетики</a:t>
            </a:r>
          </a:p>
          <a:p>
            <a:pPr algn="ctr"/>
            <a:r>
              <a:rPr sz="1400" b="0" i="0">
                <a:solidFill>
                  <a:srgbClr val="D5DEEC"/>
                </a:solidFill>
                <a:latin typeface="Calibri"/>
              </a:rPr>
              <a:t>Кафедра теоретичної кібернетики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Уніфікована система обробки та класифікації ЕКГ-сигналів різних форматів з використанням методів машинного навчання</a:t>
            </a:r>
          </a:p>
          <a:p>
            <a:pPr algn="ctr">
              <a:spcBef>
                <a:spcPts val="1000"/>
              </a:spcBef>
            </a:pPr>
            <a:r>
              <a:rPr sz="1700" b="0" i="1">
                <a:solidFill>
                  <a:srgbClr val="F0C419"/>
                </a:solidFill>
                <a:latin typeface="Calibri"/>
              </a:rPr>
              <a:t>Кваліфікаційна робота на здобуття ступеня бакалавра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38912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Виконав: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студент 4-го курсу Макаренко Вадим Анатолійович, група ТК-41</a:t>
            </a:r>
          </a:p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Науковий керівник: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д.ф.-м.н., професор, член-кореспондент НАН України Крак Юрій Васильович</a:t>
            </a:r>
          </a:p>
          <a:p>
            <a:pPr algn="ctr">
              <a:spcBef>
                <a:spcPts val="1400"/>
              </a:spcBef>
            </a:pPr>
            <a:r>
              <a:rPr sz="1600" b="1" i="0">
                <a:solidFill>
                  <a:srgbClr val="F0C419"/>
                </a:solidFill>
                <a:latin typeface="Calibri"/>
              </a:rPr>
              <a:t>Київ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9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109728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Від курсової роботи до диплома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555555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 i="0">
                <a:solidFill>
                  <a:srgbClr val="19407A"/>
                </a:solidFill>
                <a:latin typeface="Calibri"/>
              </a:rPr>
              <a:t>• Було (курсова робота):</a:t>
            </a:r>
          </a:p>
          <a:p>
            <a:pPr lvl="1">
              <a:spcAft>
                <a:spcPts val="6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– уніфікований парсер форматів, ансамблевий детектор R-піків, морфологічний аналіз, аналіз HRV</a:t>
            </a:r>
          </a:p>
          <a:p>
            <a:pPr lvl="1">
              <a:spcAft>
                <a:spcPts val="6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– класифікація аритмій — лише на основі правил; машинне навчання не використовувалося</a:t>
            </a:r>
          </a:p>
          <a:p>
            <a:pPr>
              <a:spcAft>
                <a:spcPts val="600"/>
              </a:spcAft>
            </a:pPr>
            <a:r>
              <a:rPr sz="2000" b="1" i="0">
                <a:solidFill>
                  <a:srgbClr val="B03030"/>
                </a:solidFill>
                <a:latin typeface="Calibri"/>
              </a:rPr>
              <a:t>• Обмеження:</a:t>
            </a:r>
          </a:p>
          <a:p>
            <a:pPr lvl="1">
              <a:spcAft>
                <a:spcPts val="6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– правила погано охоплюють нетипові форми; точність на складних випадках обмежена; немає кількісної оцінки за стандартним протоколом</a:t>
            </a:r>
          </a:p>
          <a:p>
            <a:pPr>
              <a:spcAft>
                <a:spcPts val="600"/>
              </a:spcAft>
            </a:pPr>
            <a:r>
              <a:rPr sz="2000" b="1" i="0">
                <a:solidFill>
                  <a:srgbClr val="19407A"/>
                </a:solidFill>
                <a:latin typeface="Calibri"/>
              </a:rPr>
              <a:t>• Стало (диплом) — що нове:</a:t>
            </a:r>
          </a:p>
          <a:p>
            <a:pPr lvl="1">
              <a:spcAft>
                <a:spcPts val="6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– повноцінний конвеєр машинного навчання на базі MIT-BIH (міжпацієнтний протокол)</a:t>
            </a:r>
          </a:p>
          <a:p>
            <a:pPr lvl="1">
              <a:spcAft>
                <a:spcPts val="6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– дві наукові новизни: двопотоковий гібридний класифікатор і бенчмарк багатоформатної стійкості</a:t>
            </a:r>
          </a:p>
          <a:p>
            <a:pPr lvl="1">
              <a:spcAft>
                <a:spcPts val="6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– REST-API та інтерфейс командного рядка; модульний пакет ekg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9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109728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Проблема та мета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555555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 i="0">
                <a:solidFill>
                  <a:srgbClr val="19407A"/>
                </a:solidFill>
                <a:latin typeface="Calibri"/>
              </a:rPr>
              <a:t>• Проблема</a:t>
            </a:r>
          </a:p>
          <a:p>
            <a:pPr lvl="1">
              <a:spcAft>
                <a:spcPts val="6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– серцево-судинні захворювання — провідна причина смертності; холтерівські записи надто великі для ручного перегляду</a:t>
            </a:r>
          </a:p>
          <a:p>
            <a:pPr lvl="1">
              <a:spcAft>
                <a:spcPts val="6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– ЕКГ зберігається в десятках несумісних форматів (DICOM, WFDB, EDF, HL7 aECG, SCP-ECG, CSV); модель має приймати їх усі</a:t>
            </a:r>
          </a:p>
          <a:p>
            <a:pPr>
              <a:spcAft>
                <a:spcPts val="600"/>
              </a:spcAft>
            </a:pPr>
            <a:r>
              <a:rPr sz="2000" b="1" i="0">
                <a:solidFill>
                  <a:srgbClr val="19407A"/>
                </a:solidFill>
                <a:latin typeface="Calibri"/>
              </a:rPr>
              <a:t>• Мета</a:t>
            </a:r>
          </a:p>
          <a:p>
            <a:pPr lvl="1">
              <a:spcAft>
                <a:spcPts val="6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– єдина система, що приймає ЕКГ різних форматів, зводить їх до спільного подання й класифікує кожне скорочення методами машинного навчання</a:t>
            </a:r>
          </a:p>
          <a:p>
            <a:pPr lvl="1">
              <a:spcAft>
                <a:spcPts val="6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– кількісно довести, що якість класифікації зберігається після перетворення між форматами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9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109728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Дані, класи та протокол оцінювання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555555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6400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MIT-BIH Arrhythmia Database: 48 записів, 360 Гц, 2 відведення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5 класів за стандартом AAMI: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– N — норма, S — надшлуночкові, V — шлуночкові, F — зливні, Q — невизначені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Чесний міжпацієнтний поділ DS1/DS2 (de Chazal):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– пацієнти навчання й тесту не перетинаються → реальна узагальнюваність, а не запам’ятовування ритму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Сильна незбалансованість (≈90 % — клас N):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B03030"/>
                </a:solidFill>
                <a:latin typeface="Calibri"/>
              </a:rPr>
              <a:t>– головна метрика — macro-F1, а не accuracy</a:t>
            </a:r>
          </a:p>
        </p:txBody>
      </p:sp>
      <p:pic>
        <p:nvPicPr>
          <p:cNvPr id="5" name="Picture 4" descr="example_be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32857"/>
            <a:ext cx="4937760" cy="423236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9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109728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Архітектура уніфікованої системи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555555"/>
                </a:solidFill>
                <a:latin typeface="Calibri"/>
              </a:rPr>
              <a:t>5</a:t>
            </a:r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30" y="1097280"/>
            <a:ext cx="7349099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1371600"/>
            <a:ext cx="3657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 i="0">
                <a:solidFill>
                  <a:srgbClr val="19407A"/>
                </a:solidFill>
                <a:latin typeface="Calibri"/>
              </a:rPr>
              <a:t>• Модульний пакет ekg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– спільне проміжне подання у форматі XML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– додати формат = один перетворювач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9407A"/>
                </a:solidFill>
                <a:latin typeface="Calibri"/>
              </a:rPr>
              <a:t>• Повторно використано перевірені компоненти курсової роботи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– фільтрація, детектор R-піків, морфологія, HRV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9407A"/>
                </a:solidFill>
                <a:latin typeface="Calibri"/>
              </a:rPr>
              <a:t>• Доступ: REST-API і CLI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9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109728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Ознаки та моделі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555555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Сегментація: вікно 260 відліків навколо R-піка, z-нормалізація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Ознаки одного удару (35, для двох відведень — 70):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– інтервали RR, морфологія QRS, статистика, вейвлет db4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Моделі: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– класичні — XGBoost, випадковий ліс, SVM-RBF (над ознаками)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– глибокі — 1D-CNN, CNN-BiLSTM (над сирим сигналом)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B03030"/>
                </a:solidFill>
                <a:latin typeface="Calibri"/>
              </a:rPr>
              <a:t>– гібрид — пізнє злиття двох потоків (новизна 1)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Базова лінія — класифікація на основі правил (з курсової роботи)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9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109728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Новизна 1 — двопотоковий гібридний класифікатор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555555"/>
                </a:solidFill>
                <a:latin typeface="Calibri"/>
              </a:rPr>
              <a:t>7</a:t>
            </a:r>
          </a:p>
        </p:txBody>
      </p:sp>
      <p:pic>
        <p:nvPicPr>
          <p:cNvPr id="4" name="Picture 3" descr="hyb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613" y="1143000"/>
            <a:ext cx="6447253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572000"/>
            <a:ext cx="11247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Ідея: пізнє злиття (stacking) — XGBoost над ручними ознаками + 1D-CNN над сирим сигналом; мета-класифікатор (логістична регресія) на імовірностях обох потоків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Навіщо: ознаки RR сильні на ритмічних класах (S), згортка — на формі (V, F); потоки доповнюють один одного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9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109728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Новизна 2 — бенчмарк багатоформатної стійкості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555555"/>
                </a:solidFill>
                <a:latin typeface="Calibri"/>
              </a:rPr>
              <a:t>8</a:t>
            </a:r>
          </a:p>
        </p:txBody>
      </p:sp>
      <p:pic>
        <p:nvPicPr>
          <p:cNvPr id="4" name="Picture 3" descr="format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651760"/>
            <a:ext cx="5486400" cy="2194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2801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19407A"/>
                </a:solidFill>
                <a:latin typeface="Calibri"/>
              </a:rPr>
              <a:t>• Що робимо:</a:t>
            </a:r>
          </a:p>
          <a:p>
            <a:pPr lvl="1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– класифікуємо нативний WFDB → конвертуємо у CSV / EDF → знову класифікуємо → міряємо узгодженість міток і різницю сигналу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19407A"/>
                </a:solidFill>
                <a:latin typeface="Calibri"/>
              </a:rPr>
              <a:t>• Навіщо:</a:t>
            </a:r>
          </a:p>
          <a:p>
            <a:pPr lvl="1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– «уніфікована багатоформатна» має сенс лише якщо якість не падає після конвертації — майже жодна робота цього не перевіряє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B03030"/>
                </a:solidFill>
                <a:latin typeface="Calibri"/>
              </a:rPr>
              <a:t>• Результат:</a:t>
            </a:r>
          </a:p>
          <a:p>
            <a:pPr lvl="1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– CSV — 100 % узгодженості міток; EDF — ≥ 99,3 % (фактично без втрат)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9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109728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Результати: порівняння моделей (DS2)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555555"/>
                </a:solidFill>
                <a:latin typeface="Calibri"/>
              </a:rPr>
              <a:t>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280160"/>
          <a:ext cx="73152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1371600"/>
                <a:gridCol w="1371600"/>
              </a:tblGrid>
              <a:tr h="587828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Модель</a:t>
                      </a:r>
                    </a:p>
                  </a:txBody>
                  <a:tcPr anchor="ctr">
                    <a:solidFill>
                      <a:srgbClr val="1940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macro-F1</a:t>
                      </a:r>
                    </a:p>
                  </a:txBody>
                  <a:tcPr anchor="ctr">
                    <a:solidFill>
                      <a:srgbClr val="1940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Повнота F</a:t>
                      </a:r>
                    </a:p>
                  </a:txBody>
                  <a:tcPr anchor="ctr">
                    <a:solidFill>
                      <a:srgbClr val="1940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Acc</a:t>
                      </a:r>
                    </a:p>
                  </a:txBody>
                  <a:tcPr anchor="ctr">
                    <a:solidFill>
                      <a:srgbClr val="19407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На основі правил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0,24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0,85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Випадковий ліс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0,37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0,93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0,42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0,52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0,87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1D-CNN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0,27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0,02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0,67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Гібрид (2 відв.)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0,40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0,89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0,77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19407A"/>
                          </a:solidFill>
                          <a:latin typeface="Calibri"/>
                        </a:rPr>
                        <a:t>SVM-RBF (2 відв.)</a:t>
                      </a:r>
                    </a:p>
                  </a:txBody>
                  <a:tcPr anchor="ctr"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9407A"/>
                          </a:solidFill>
                          <a:latin typeface="Calibri"/>
                        </a:rPr>
                        <a:t>0,466</a:t>
                      </a:r>
                    </a:p>
                  </a:txBody>
                  <a:tcPr anchor="ctr"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9407A"/>
                          </a:solidFill>
                          <a:latin typeface="Calibri"/>
                        </a:rPr>
                        <a:t>0,90</a:t>
                      </a:r>
                    </a:p>
                  </a:txBody>
                  <a:tcPr anchor="ctr"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19407A"/>
                          </a:solidFill>
                          <a:latin typeface="Calibri"/>
                        </a:rPr>
                        <a:t>0,83</a:t>
                      </a:r>
                    </a:p>
                  </a:txBody>
                  <a:tcPr anchor="ctr">
                    <a:solidFill>
                      <a:srgbClr val="E8F0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0" y="1463040"/>
            <a:ext cx="374903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 i="0">
                <a:solidFill>
                  <a:srgbClr val="19407A"/>
                </a:solidFill>
                <a:latin typeface="Calibri"/>
              </a:rPr>
              <a:t>• Найкраща модель — SVM-RBF на двох відведеннях: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– macro-F1 = 0,466 — на рівні опублікованих результатів для міжпацієнтного протоколу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• Accuracy оманлива: випадковий ліс має 0,93, але майже не виявляє патологій (macro-F1 лише 0,37)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9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109728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Результати: рідкісні класи та новизни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555555"/>
                </a:solidFill>
                <a:latin typeface="Calibri"/>
              </a:rPr>
              <a:t>10</a:t>
            </a:r>
          </a:p>
        </p:txBody>
      </p:sp>
      <p:pic>
        <p:nvPicPr>
          <p:cNvPr id="4" name="Picture 3" descr="rare_class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502131"/>
            <a:ext cx="5486400" cy="24938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2801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Друге відведення дає найбільший приріст за рідкісними класами</a:t>
            </a:r>
          </a:p>
          <a:p>
            <a:pPr>
              <a:spcAft>
                <a:spcPts val="600"/>
              </a:spcAft>
            </a:pPr>
            <a:r>
              <a:rPr sz="1700" b="1" i="0">
                <a:solidFill>
                  <a:srgbClr val="19407A"/>
                </a:solidFill>
                <a:latin typeface="Calibri"/>
              </a:rPr>
              <a:t>• Гібрид (новизна 1):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– повнота зливних скорочень 0,89 — вище за обидва свої потоки (0,82 у XGBoost, 0,07 у CNN)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– пізнє злиття відновлює корисний внесок слабкої мережі; не перевершує SVM (0,90), але майже наздоганяє його</a:t>
            </a:r>
          </a:p>
          <a:p>
            <a:pPr>
              <a:spcAft>
                <a:spcPts val="600"/>
              </a:spcAft>
            </a:pPr>
            <a:r>
              <a:rPr sz="1700" b="1" i="0">
                <a:solidFill>
                  <a:srgbClr val="19407A"/>
                </a:solidFill>
                <a:latin typeface="Calibri"/>
              </a:rPr>
              <a:t>• Стійкість форматів (новизна 2):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– CSV — без втрат (100 %); EDF — у межах 16-бітного шуму (≥ 99,3 %)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9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109728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Висновки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555555"/>
                </a:solidFill>
                <a:latin typeface="Calibri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3749039" cy="548640"/>
          </a:xfrm>
          <a:prstGeom prst="rect">
            <a:avLst/>
          </a:prstGeom>
          <a:solidFill>
            <a:srgbClr val="19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Досягнуто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74519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ML-конвеєр на MIT-BIH за міжпацієнтним протоколом; 7 моделей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найкраща — SVM-RBF 2 відв.: macro-F1 0,466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гібрид: повнота F 0,89 (вище за обидва потоки)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бенчмарк форматів: CSV 100 %, EDF ≥ 99,3 %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REST-API та CLI</a:t>
            </a:r>
          </a:p>
        </p:txBody>
      </p:sp>
      <p:sp>
        <p:nvSpPr>
          <p:cNvPr id="6" name="Rectangle 5"/>
          <p:cNvSpPr/>
          <p:nvPr/>
        </p:nvSpPr>
        <p:spPr>
          <a:xfrm>
            <a:off x="4251959" y="1188720"/>
            <a:ext cx="3749039" cy="548640"/>
          </a:xfrm>
          <a:prstGeom prst="rect">
            <a:avLst/>
          </a:prstGeom>
          <a:solidFill>
            <a:srgbClr val="3F8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Практична цінність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1959" y="1874519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скринінг аритмій, телемедицина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єдиний вхід для різних форматів ЕКГ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повна відтворюваність (усе сценаріями)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8158" y="1188720"/>
            <a:ext cx="3749039" cy="548640"/>
          </a:xfrm>
          <a:prstGeom prst="rect">
            <a:avLst/>
          </a:prstGeom>
          <a:solidFill>
            <a:srgbClr val="8A6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Подальший розвиток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8" y="1874519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навчання на GPU з аугментацією даних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перехід до 12 відведень (база PTB-XL)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розширення бенчмарку на більше форматів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9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Дякую за увагу!</a:t>
            </a:r>
          </a:p>
          <a:p>
            <a:pPr algn="ctr">
              <a:spcBef>
                <a:spcPts val="1600"/>
              </a:spcBef>
            </a:pPr>
            <a:r>
              <a:rPr sz="2000" b="0" i="1">
                <a:solidFill>
                  <a:srgbClr val="F0C419"/>
                </a:solidFill>
                <a:latin typeface="Calibri"/>
              </a:rPr>
              <a:t>Готовий відповісти на запитання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